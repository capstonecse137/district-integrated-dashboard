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7" r:id="rId2"/>
    <p:sldId id="269" r:id="rId3"/>
    <p:sldId id="270" r:id="rId4"/>
    <p:sldId id="283" r:id="rId5"/>
    <p:sldId id="284" r:id="rId6"/>
    <p:sldId id="285" r:id="rId7"/>
    <p:sldId id="297" r:id="rId8"/>
    <p:sldId id="287" r:id="rId9"/>
    <p:sldId id="288" r:id="rId10"/>
    <p:sldId id="289" r:id="rId11"/>
    <p:sldId id="290" r:id="rId12"/>
    <p:sldId id="299" r:id="rId13"/>
    <p:sldId id="300" r:id="rId14"/>
    <p:sldId id="293" r:id="rId15"/>
    <p:sldId id="294" r:id="rId16"/>
    <p:sldId id="295" r:id="rId17"/>
    <p:sldId id="296" r:id="rId18"/>
    <p:sldId id="268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78557-85A5-4B7B-99EB-EAB867AEA6AA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10268-2FE6-47BB-9C00-D1747E6BB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86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FA351-370B-1A52-995E-A68DF4E0B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F6C54-0592-F3D0-B35F-B2F1F8FB6E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9DA33-8DFC-4D0A-48DE-EAA21331A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214B3-A079-DE7D-3FDB-5631E629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2B61D-A14E-4CCB-625A-A16F42FD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575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B4CE0-2C16-7D52-F3D9-4AF3AB3A7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A99E-BF1E-41EB-96C8-1F5F4F757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335D9-0469-C558-BCE8-F50E3C48F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A5F38-41F6-6E1E-8290-38121A77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05FE8-2FF8-8E6C-77CF-94DDD81E8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789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B7DA0-E6A2-9507-6BEA-1FBE047D4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62D9D9-055D-18B8-C1A7-35E2042F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F64D3-8F41-51D4-9FC8-E1663FEB0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1E046-9146-D674-DB68-45C4A20C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83881-242C-D7A0-1936-E92F06219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9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F5DE-D401-2A4E-8D39-4C47498A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191E5-9B07-E2D3-6835-C9E22582FB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AA99A-294C-2EE2-698E-2DA1E0F1AE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D5FDDE-52EE-56DF-1385-A294828F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F516F-0234-FE8B-4C3D-792068AB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7A2B3-07F5-D5C6-2F2E-7BB644B5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394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94AE-0D5D-192D-6480-6E6D1255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ED34E-E245-767F-F637-7DAA988A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76D84-0926-275A-6800-EEE7226C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12C87-7F34-F284-B360-7DBD1A452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54F38-728F-1739-559B-236E375F55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E89DB-7AE1-F482-69F4-754CD99C2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13AB4B-6676-F1F3-F41E-FFEFEE156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80D500-512A-76C3-A070-D527B70AD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756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4BA67-377E-811E-6707-E06B414A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6793BC-7608-7DB2-A921-F82967B9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CDF3A-9134-AE95-0673-4AACCCD6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88074-ADB3-251B-D0D2-2C02DACA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530BB-8EF1-FD20-B171-12466BE6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D44B2A-65C7-AAE2-80AE-9C663B7C3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D232A-3E8A-5860-B01B-F62F6A38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2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2C3C-7F76-8F74-26CD-E33B6787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5CF9-0439-7B23-BFA7-9C88F360F5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5CB76-EBFB-B7E3-0E84-9E9A624BD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2F9C1-37C3-A34E-399F-88C256B55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099EB7-6F00-3B4B-7251-A43BB5ED6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8277-3F81-3100-B2B2-81AC6064A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7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1287-7DC9-6316-8589-F05A65986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AE88F1-E4C3-EDCB-6F4F-52ABDF6EE4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F4BCC-7FD7-D1DB-1005-74641ABB1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C1921-3D81-EF2E-5B68-37EDD13A0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12AD8-3197-373E-49E8-6A2660590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1A2385-2387-1324-A67B-ED7397EA1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6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BED3E-CBEA-33DA-51E5-35132CDA6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FB2BB-2F03-E8FB-0F06-93EB8F2C1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E0D6C-568F-24EB-6784-292F52B8C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A1042-519D-FFA8-8A66-53B45115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A650-332D-431A-4457-F240695E3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15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3CBAB-E78E-A599-A9A9-9AF969E90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5741CB-446E-9B3E-FD47-5358380DD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5460A-7AB2-BE80-E848-E3941C5C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E3A5C-C5E5-9A34-809A-9D2981958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2D23-4F37-5067-DA68-E730DB69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6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8E8FD6-2DC1-288C-9DE5-FFB17490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077BC-FF57-6574-C5EA-D44EEEF3B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9BF5-673C-5FF6-6D57-EB1E3EC68C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5877F8-9E92-42FD-812E-EC8EB2B3C062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0D73-7321-BE03-6F57-118FDA377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4C0C4-8256-689A-A9A0-39737EAE0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4C230-3AF1-4D92-8D0D-42B6DF2BA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18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ashboard.niti.gov.in/" TargetMode="External"/><Relationship Id="rId3" Type="http://schemas.openxmlformats.org/officeDocument/2006/relationships/hyperlink" Target="https://udiseplus.gov.in/" TargetMode="External"/><Relationship Id="rId7" Type="http://schemas.openxmlformats.org/officeDocument/2006/relationships/hyperlink" Target="https://data.worldbank.org/" TargetMode="External"/><Relationship Id="rId2" Type="http://schemas.openxmlformats.org/officeDocument/2006/relationships/hyperlink" Target="https://hmis.nhp.gov.in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ensusindia.gov.in/" TargetMode="External"/><Relationship Id="rId5" Type="http://schemas.openxmlformats.org/officeDocument/2006/relationships/hyperlink" Target="https://ncrb.gov.in/" TargetMode="External"/><Relationship Id="rId4" Type="http://schemas.openxmlformats.org/officeDocument/2006/relationships/hyperlink" Target="https://data.gov.in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pstoneCSE137/District-Integrated-Dashboard.git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PSCS_647_District Integrated Dashboard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>
                <a:latin typeface="Cambria" panose="02040503050406030204" pitchFamily="18" charset="0"/>
                <a:ea typeface="Cambria" panose="02040503050406030204" pitchFamily="18" charset="0"/>
              </a:rPr>
              <a:t>Batch Number : CSE_137</a:t>
            </a:r>
            <a:endParaRPr sz="18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</a:t>
            </a:r>
            <a:r>
              <a:rPr lang="en-GB" sz="17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. Poonam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3151793678"/>
              </p:ext>
            </p:extLst>
          </p:nvPr>
        </p:nvGraphicFramePr>
        <p:xfrm>
          <a:off x="553347" y="27218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20221CSE0454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Yanamala Jaswanth Reddy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20221CSE0506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Amaregouda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20221CSE0451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Purohith Satyanarayana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Review-5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  <a:endParaRPr lang="en-US" sz="18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Blessed Prince</a:t>
            </a:r>
            <a:endParaRPr lang="en-US" sz="18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b="1" dirty="0">
                <a:latin typeface="Cambria" panose="02040503050406030204" pitchFamily="18" charset="0"/>
                <a:ea typeface="Cambria" panose="02040503050406030204" pitchFamily="18" charset="0"/>
              </a:rPr>
              <a:t>Mr. Muthuraju V</a:t>
            </a:r>
            <a:endParaRPr lang="en-US" sz="1800" b="1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52832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PSCS_647 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2000" y="1378976"/>
            <a:ext cx="10668000" cy="3645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Organization: Presidency University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Software(since web based Solution)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“This project involves building an interactive and user-friendly dashboard that visualizes key performance indicators (KPIs) and real-time data to assist government or public sector officials in policy evaluation and management”</a:t>
            </a:r>
            <a:r>
              <a:rPr lang="en-US" sz="2000" dirty="0"/>
              <a:t>. 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latin typeface="+mn-lt"/>
                <a:ea typeface="Cambria" panose="02040503050406030204" pitchFamily="18" charset="0"/>
              </a:rPr>
              <a:t>Content</a:t>
            </a:r>
            <a:endParaRPr sz="24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65614" y="1108060"/>
            <a:ext cx="10668000" cy="5475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Abstract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Literature Survey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Objectives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Existing Methods and Drawbacks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Proposed Method &amp; Feasibility Study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Modules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Hardware and Software Details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Timeline (Gantt Chart)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/>
              <a:t>References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B95F4-9A8C-51D4-03AE-895B4AE3F393}"/>
              </a:ext>
            </a:extLst>
          </p:cNvPr>
          <p:cNvSpPr txBox="1"/>
          <p:nvPr/>
        </p:nvSpPr>
        <p:spPr>
          <a:xfrm>
            <a:off x="201561" y="599620"/>
            <a:ext cx="1178887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Abstract :</a:t>
            </a:r>
          </a:p>
          <a:p>
            <a:endParaRPr lang="en-US" b="1" dirty="0"/>
          </a:p>
          <a:p>
            <a:r>
              <a:rPr lang="en-US" sz="2000" dirty="0"/>
              <a:t>District-level governance data is currently </a:t>
            </a:r>
            <a:r>
              <a:rPr lang="en-US" sz="2000" b="1" dirty="0"/>
              <a:t>fragmented across siloed departments</a:t>
            </a:r>
            <a:r>
              <a:rPr lang="en-US" sz="2000" dirty="0"/>
              <a:t>, leading to inefficiencies in data integration and analysis.</a:t>
            </a:r>
          </a:p>
          <a:p>
            <a:endParaRPr lang="en-US" sz="2000" dirty="0"/>
          </a:p>
          <a:p>
            <a:r>
              <a:rPr lang="en-US" sz="2000" dirty="0"/>
              <a:t>Our objective is to develop a </a:t>
            </a:r>
            <a:r>
              <a:rPr lang="en-US" sz="2000" b="1" dirty="0"/>
              <a:t>Unified Integrated Dashboard</a:t>
            </a:r>
            <a:r>
              <a:rPr lang="en-US" sz="2000" dirty="0"/>
              <a:t> that centralizes </a:t>
            </a:r>
            <a:r>
              <a:rPr lang="en-US" sz="2000" b="1" dirty="0"/>
              <a:t>10+ Key Performance Indicators (KPIs)</a:t>
            </a:r>
            <a:r>
              <a:rPr lang="en-US" sz="2000" dirty="0"/>
              <a:t> spanning the </a:t>
            </a:r>
            <a:r>
              <a:rPr lang="en-US" sz="2000" b="1" dirty="0"/>
              <a:t>Health, Education, Agriculture, and Food Processing</a:t>
            </a:r>
            <a:r>
              <a:rPr lang="en-US" sz="2000" dirty="0"/>
              <a:t> sectors.</a:t>
            </a:r>
          </a:p>
          <a:p>
            <a:endParaRPr lang="en-US" sz="2000" dirty="0"/>
          </a:p>
          <a:p>
            <a:r>
              <a:rPr lang="en-US" sz="2000" dirty="0"/>
              <a:t>The platform is designed to support </a:t>
            </a:r>
            <a:r>
              <a:rPr lang="en-US" sz="2000" b="1" dirty="0"/>
              <a:t>instant data visualization, cross-sector comparative analytics</a:t>
            </a:r>
            <a:r>
              <a:rPr lang="en-US" sz="2000" dirty="0"/>
              <a:t>, and </a:t>
            </a:r>
            <a:r>
              <a:rPr lang="en-US" sz="2000" b="1" dirty="0"/>
              <a:t>automated report generation</a:t>
            </a:r>
            <a:r>
              <a:rPr lang="en-US" sz="2000" dirty="0"/>
              <a:t> to empower administrative decision-making.</a:t>
            </a:r>
          </a:p>
          <a:p>
            <a:endParaRPr lang="en-US" sz="2000" dirty="0"/>
          </a:p>
          <a:p>
            <a:r>
              <a:rPr lang="en-US" sz="2000" dirty="0"/>
              <a:t>We utilize </a:t>
            </a:r>
            <a:r>
              <a:rPr lang="en-US" sz="2000" b="1" dirty="0"/>
              <a:t>robust open-source technologies</a:t>
            </a:r>
            <a:r>
              <a:rPr lang="en-US" sz="2000" dirty="0"/>
              <a:t> (HTML5, CSS3, JavaScript (ES6+), Python Pandas, Chart.js) to guarantee </a:t>
            </a:r>
            <a:r>
              <a:rPr lang="en-US" sz="2000" b="1" dirty="0"/>
              <a:t>system scalability and operational cost-efficiency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This solution effectively bridges the </a:t>
            </a:r>
            <a:r>
              <a:rPr lang="en-US" sz="2000" b="1" dirty="0"/>
              <a:t>technological gap between advanced Smart City command centers and decentralized district-level systems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373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68BB63-B0F6-6085-0114-078C2B18D3E2}"/>
              </a:ext>
            </a:extLst>
          </p:cNvPr>
          <p:cNvSpPr txBox="1"/>
          <p:nvPr/>
        </p:nvSpPr>
        <p:spPr>
          <a:xfrm>
            <a:off x="157316" y="304800"/>
            <a:ext cx="11936361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Literature Survey (Overview) :</a:t>
            </a:r>
          </a:p>
          <a:p>
            <a:endParaRPr lang="en-US" b="1" dirty="0"/>
          </a:p>
          <a:p>
            <a:r>
              <a:rPr lang="en-US" sz="2000" dirty="0"/>
              <a:t>Databases searched: </a:t>
            </a:r>
            <a:r>
              <a:rPr lang="en-US" sz="2000" b="1" dirty="0"/>
              <a:t>IEEE Xplore, Scopus, Web of Science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Keywords: </a:t>
            </a:r>
            <a:r>
              <a:rPr lang="en-US" sz="2000" i="1" dirty="0"/>
              <a:t>government dashboard, e-governance analytics, real-time visualization, district data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Reviewed </a:t>
            </a:r>
            <a:r>
              <a:rPr lang="en-US" sz="2000" b="1" dirty="0"/>
              <a:t>30+ papers</a:t>
            </a:r>
            <a:r>
              <a:rPr lang="en-US" sz="2000" dirty="0"/>
              <a:t>, shortlisted </a:t>
            </a:r>
            <a:r>
              <a:rPr lang="en-US" sz="2000" b="1" dirty="0"/>
              <a:t>10 highly relevant works</a:t>
            </a:r>
            <a:r>
              <a:rPr lang="en-US" sz="2000" dirty="0"/>
              <a:t> from </a:t>
            </a:r>
            <a:r>
              <a:rPr lang="en-US" sz="2000" b="1" dirty="0"/>
              <a:t>2011–2022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Key themes:</a:t>
            </a:r>
          </a:p>
          <a:p>
            <a:pPr lvl="1"/>
            <a:r>
              <a:rPr lang="en-US" sz="2000" dirty="0"/>
              <a:t>Smart city dashboards for monitoring KPIs.</a:t>
            </a:r>
          </a:p>
          <a:p>
            <a:pPr lvl="1"/>
            <a:r>
              <a:rPr lang="en-US" sz="2000" dirty="0"/>
              <a:t>Visualization frameworks for decision support.</a:t>
            </a:r>
          </a:p>
          <a:p>
            <a:pPr lvl="1"/>
            <a:r>
              <a:rPr lang="en-US" sz="2000" dirty="0"/>
              <a:t>Real-time ETL pipelines and data integration.</a:t>
            </a:r>
          </a:p>
          <a:p>
            <a:pPr lvl="1"/>
            <a:r>
              <a:rPr lang="en-US" sz="2000" dirty="0"/>
              <a:t>Public portals and e-governance dashboards.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Observation:</a:t>
            </a:r>
            <a:r>
              <a:rPr lang="en-US" sz="2000" dirty="0"/>
              <a:t> Most works are </a:t>
            </a:r>
            <a:r>
              <a:rPr lang="en-US" sz="2000" b="1" dirty="0"/>
              <a:t>urban or sector-specific</a:t>
            </a:r>
            <a:r>
              <a:rPr lang="en-US" sz="2000" dirty="0"/>
              <a:t>, rarely multi-sector at district level.</a:t>
            </a:r>
          </a:p>
          <a:p>
            <a:endParaRPr lang="en-US" sz="2000" dirty="0"/>
          </a:p>
          <a:p>
            <a:r>
              <a:rPr lang="en-US" sz="2000" b="1" dirty="0"/>
              <a:t>Gap Identified:</a:t>
            </a:r>
            <a:r>
              <a:rPr lang="en-US" sz="2000" dirty="0"/>
              <a:t> Lack of </a:t>
            </a:r>
            <a:r>
              <a:rPr lang="en-US" sz="2000" b="1" dirty="0"/>
              <a:t>comprehensive, integrated, scalable</a:t>
            </a:r>
            <a:r>
              <a:rPr lang="en-US" sz="2000" dirty="0"/>
              <a:t> solutions for district-level governance.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60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2B77479-5C30-9842-67FA-3A1FE97E0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698938"/>
              </p:ext>
            </p:extLst>
          </p:nvPr>
        </p:nvGraphicFramePr>
        <p:xfrm>
          <a:off x="245805" y="93407"/>
          <a:ext cx="11847872" cy="6659589"/>
        </p:xfrm>
        <a:graphic>
          <a:graphicData uri="http://schemas.openxmlformats.org/drawingml/2006/table">
            <a:tbl>
              <a:tblPr/>
              <a:tblGrid>
                <a:gridCol w="658763">
                  <a:extLst>
                    <a:ext uri="{9D8B030D-6E8A-4147-A177-3AD203B41FA5}">
                      <a16:colId xmlns:a16="http://schemas.microsoft.com/office/drawing/2014/main" val="1123441456"/>
                    </a:ext>
                  </a:extLst>
                </a:gridCol>
                <a:gridCol w="2290916">
                  <a:extLst>
                    <a:ext uri="{9D8B030D-6E8A-4147-A177-3AD203B41FA5}">
                      <a16:colId xmlns:a16="http://schemas.microsoft.com/office/drawing/2014/main" val="886345445"/>
                    </a:ext>
                  </a:extLst>
                </a:gridCol>
                <a:gridCol w="3034297">
                  <a:extLst>
                    <a:ext uri="{9D8B030D-6E8A-4147-A177-3AD203B41FA5}">
                      <a16:colId xmlns:a16="http://schemas.microsoft.com/office/drawing/2014/main" val="112236586"/>
                    </a:ext>
                  </a:extLst>
                </a:gridCol>
                <a:gridCol w="1954632">
                  <a:extLst>
                    <a:ext uri="{9D8B030D-6E8A-4147-A177-3AD203B41FA5}">
                      <a16:colId xmlns:a16="http://schemas.microsoft.com/office/drawing/2014/main" val="1623819404"/>
                    </a:ext>
                  </a:extLst>
                </a:gridCol>
                <a:gridCol w="1954632">
                  <a:extLst>
                    <a:ext uri="{9D8B030D-6E8A-4147-A177-3AD203B41FA5}">
                      <a16:colId xmlns:a16="http://schemas.microsoft.com/office/drawing/2014/main" val="2829672611"/>
                    </a:ext>
                  </a:extLst>
                </a:gridCol>
                <a:gridCol w="1954632">
                  <a:extLst>
                    <a:ext uri="{9D8B030D-6E8A-4147-A177-3AD203B41FA5}">
                      <a16:colId xmlns:a16="http://schemas.microsoft.com/office/drawing/2014/main" val="2397190102"/>
                    </a:ext>
                  </a:extLst>
                </a:gridCol>
              </a:tblGrid>
              <a:tr h="316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Sl. No.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Paper (Year)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Problem Studied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Approach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Findings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Gap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613773"/>
                  </a:ext>
                </a:extLst>
              </a:tr>
              <a:tr h="489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SoSE 2020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Governance dashboards for smart cities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System-of-systems, Singapore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Multi-sector feasibility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City-scale only, no district KPIs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711840"/>
                  </a:ext>
                </a:extLst>
              </a:tr>
              <a:tr h="5461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IoT Journal 2020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Automated smart city dashboards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Modular framework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Simplifies creation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Urban focus 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626231"/>
                  </a:ext>
                </a:extLst>
              </a:tr>
              <a:tr h="648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IEEE TVCG 2019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Dashboard definitions &amp; design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Theoretical survey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Clear design guidelines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Conceptual 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985689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4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IEEE/Elsevier 2022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Real-time visualization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Kafka + Grafana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Sub-second updates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IoT 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9743187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IEEE Smart Cities 2021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Indian smart cities open data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Case studies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Transparency improved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 district integration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4689924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6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ICCIC 2017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University KPI dashboard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Data unification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Better education tracking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Education 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7620256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7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WICT 2013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E-Gov portal architecture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Hybrid distributed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Interoperable services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 dashboards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933721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8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IJCSS 2011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Smart city evaluations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Governance evaluation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Service metrics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Old, sector-specific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4742328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MDPI/IEEE 2019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Geospatial dashboards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Semantic + spatial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Improved KPI mapping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City-only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443630"/>
                  </a:ext>
                </a:extLst>
              </a:tr>
              <a:tr h="55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ArXiv/IEEE 2021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COVID-19 India dashboard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Real-time health KPIs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District feasibility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Health-only</a:t>
                      </a:r>
                    </a:p>
                  </a:txBody>
                  <a:tcPr marL="52426" marR="52426" marT="26213" marB="2621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49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80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120630-F9B9-EB5D-FE64-95337ACA9107}"/>
              </a:ext>
            </a:extLst>
          </p:cNvPr>
          <p:cNvSpPr txBox="1"/>
          <p:nvPr/>
        </p:nvSpPr>
        <p:spPr>
          <a:xfrm>
            <a:off x="176981" y="137652"/>
            <a:ext cx="11788877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Objectives :</a:t>
            </a:r>
          </a:p>
          <a:p>
            <a:endParaRPr lang="en-US" b="1" dirty="0"/>
          </a:p>
          <a:p>
            <a:r>
              <a:rPr lang="en-US" b="1" dirty="0"/>
              <a:t>Data Integration</a:t>
            </a:r>
            <a:r>
              <a:rPr lang="en-US" dirty="0"/>
              <a:t> </a:t>
            </a:r>
          </a:p>
          <a:p>
            <a:r>
              <a:rPr lang="en-US" dirty="0"/>
              <a:t>Unify and standardize data from </a:t>
            </a:r>
            <a:r>
              <a:rPr lang="en-US" b="1" dirty="0"/>
              <a:t>3+ official government sources</a:t>
            </a:r>
            <a:r>
              <a:rPr lang="en-US" dirty="0"/>
              <a:t> (e.g., APIs, CSVs) to ensure data coherence.</a:t>
            </a:r>
          </a:p>
          <a:p>
            <a:endParaRPr lang="en-US" dirty="0"/>
          </a:p>
          <a:p>
            <a:r>
              <a:rPr lang="en-US" b="1" dirty="0"/>
              <a:t>Multi-Sector Coverage</a:t>
            </a:r>
            <a:r>
              <a:rPr lang="en-US" dirty="0"/>
              <a:t> </a:t>
            </a:r>
          </a:p>
          <a:p>
            <a:r>
              <a:rPr lang="en-US" dirty="0"/>
              <a:t>Track and visualize </a:t>
            </a:r>
            <a:r>
              <a:rPr lang="en-US" b="1" dirty="0"/>
              <a:t>10+ Key Performance Indicators (KPIs)</a:t>
            </a:r>
            <a:r>
              <a:rPr lang="en-US" dirty="0"/>
              <a:t> across Health, Education, Agriculture, and Food Processing sectors.</a:t>
            </a:r>
          </a:p>
          <a:p>
            <a:endParaRPr lang="en-US" dirty="0"/>
          </a:p>
          <a:p>
            <a:r>
              <a:rPr lang="en-US" b="1" dirty="0"/>
              <a:t>Automation</a:t>
            </a:r>
            <a:r>
              <a:rPr lang="en-US" dirty="0"/>
              <a:t> </a:t>
            </a:r>
          </a:p>
          <a:p>
            <a:r>
              <a:rPr lang="en-US" dirty="0"/>
              <a:t>Enable </a:t>
            </a:r>
            <a:r>
              <a:rPr lang="en-US" b="1" dirty="0"/>
              <a:t>automated data refresh</a:t>
            </a:r>
            <a:r>
              <a:rPr lang="en-US" dirty="0"/>
              <a:t> mechanisms to minimize manual intervention and ensure data recency.</a:t>
            </a:r>
          </a:p>
          <a:p>
            <a:endParaRPr lang="en-US" dirty="0"/>
          </a:p>
          <a:p>
            <a:r>
              <a:rPr lang="en-US" b="1" dirty="0"/>
              <a:t>Visualization &amp; Analytics</a:t>
            </a:r>
            <a:r>
              <a:rPr lang="en-US" dirty="0"/>
              <a:t> </a:t>
            </a:r>
          </a:p>
          <a:p>
            <a:r>
              <a:rPr lang="en-US" dirty="0"/>
              <a:t>Deliver </a:t>
            </a:r>
            <a:r>
              <a:rPr lang="en-US" b="1" dirty="0"/>
              <a:t>interactive dashboards</a:t>
            </a:r>
            <a:r>
              <a:rPr lang="en-US" dirty="0"/>
              <a:t> featuring dynamic filters, trend lines, and </a:t>
            </a:r>
            <a:r>
              <a:rPr lang="en-US" b="1" dirty="0"/>
              <a:t>cross-sector comparative analysis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 err="1"/>
              <a:t>ReportingAuto</a:t>
            </a:r>
            <a:r>
              <a:rPr lang="en-US" b="1" dirty="0"/>
              <a:t>-generate concise PDF/Excel reports in &lt; 1 minute</a:t>
            </a:r>
            <a:r>
              <a:rPr lang="en-US" dirty="0"/>
              <a:t> for efficient decision support by district officers.</a:t>
            </a:r>
          </a:p>
          <a:p>
            <a:endParaRPr lang="en-US" dirty="0"/>
          </a:p>
          <a:p>
            <a:r>
              <a:rPr lang="en-US" b="1" dirty="0"/>
              <a:t>Accessibility &amp; Usability</a:t>
            </a:r>
            <a:r>
              <a:rPr lang="en-US" dirty="0"/>
              <a:t> </a:t>
            </a:r>
          </a:p>
          <a:p>
            <a:endParaRPr lang="en-US" sz="2000" dirty="0"/>
          </a:p>
          <a:p>
            <a:r>
              <a:rPr lang="en-US" dirty="0"/>
              <a:t>Implement </a:t>
            </a:r>
            <a:r>
              <a:rPr lang="en-US" b="1" dirty="0"/>
              <a:t>role-based access</a:t>
            </a:r>
            <a:r>
              <a:rPr lang="en-US" dirty="0"/>
              <a:t> and a </a:t>
            </a:r>
            <a:r>
              <a:rPr lang="en-US" b="1" dirty="0"/>
              <a:t>responsive web UI</a:t>
            </a:r>
            <a:r>
              <a:rPr lang="en-US" dirty="0"/>
              <a:t> for seamless usage on desktops and mobile devices.</a:t>
            </a:r>
          </a:p>
          <a:p>
            <a:endParaRPr lang="en-US" dirty="0"/>
          </a:p>
          <a:p>
            <a:r>
              <a:rPr lang="en-US" b="1" dirty="0"/>
              <a:t>Scalability</a:t>
            </a:r>
            <a:r>
              <a:rPr lang="en-US" dirty="0"/>
              <a:t> </a:t>
            </a:r>
          </a:p>
          <a:p>
            <a:r>
              <a:rPr lang="en-US" dirty="0"/>
              <a:t>Design a </a:t>
            </a:r>
            <a:r>
              <a:rPr lang="en-US" b="1" dirty="0"/>
              <a:t>modular architecture</a:t>
            </a:r>
            <a:r>
              <a:rPr lang="en-US" dirty="0"/>
              <a:t> that supports the integration of new districts or future </a:t>
            </a:r>
            <a:r>
              <a:rPr lang="en-US" b="1" dirty="0"/>
              <a:t>state-level aggregation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893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935008-DFCD-5041-104B-C8F4F48F721D}"/>
              </a:ext>
            </a:extLst>
          </p:cNvPr>
          <p:cNvSpPr txBox="1"/>
          <p:nvPr/>
        </p:nvSpPr>
        <p:spPr>
          <a:xfrm>
            <a:off x="157316" y="580103"/>
            <a:ext cx="1203468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Existing Methods &amp; Drawbacks (Elaborated) :</a:t>
            </a:r>
          </a:p>
          <a:p>
            <a:endParaRPr lang="en-US" b="1" dirty="0"/>
          </a:p>
          <a:p>
            <a:pPr marL="342900" indent="-342900">
              <a:buAutoNum type="arabicPeriod"/>
            </a:pPr>
            <a:r>
              <a:rPr lang="en-US" sz="2000" b="1" dirty="0"/>
              <a:t>UP CM DARPAN Dashboard (State-level)</a:t>
            </a:r>
          </a:p>
          <a:p>
            <a:pPr marL="342900" indent="-342900">
              <a:buAutoNum type="arabicPeriod"/>
            </a:pPr>
            <a:endParaRPr lang="en-US" sz="2000" dirty="0"/>
          </a:p>
          <a:p>
            <a:r>
              <a:rPr lang="en-US" sz="2000" b="1" dirty="0"/>
              <a:t>Description:</a:t>
            </a:r>
            <a:r>
              <a:rPr lang="en-US" sz="2000" dirty="0"/>
              <a:t> A centralized platform by the Government of Uttar Pradesh for </a:t>
            </a:r>
            <a:r>
              <a:rPr lang="en-US" sz="2000" b="1" dirty="0"/>
              <a:t>state-level performance monitoring</a:t>
            </a:r>
            <a:r>
              <a:rPr lang="en-US" sz="2000" dirty="0"/>
              <a:t> across departments (health, education, agriculture, food processing).</a:t>
            </a:r>
          </a:p>
          <a:p>
            <a:endParaRPr lang="en-US" sz="2000" dirty="0"/>
          </a:p>
          <a:p>
            <a:r>
              <a:rPr lang="en-US" sz="2000" b="1" dirty="0"/>
              <a:t>Strengths:</a:t>
            </a:r>
            <a:endParaRPr lang="en-US" sz="2000" dirty="0"/>
          </a:p>
          <a:p>
            <a:pPr lvl="1"/>
            <a:r>
              <a:rPr lang="en-US" sz="2000" dirty="0"/>
              <a:t>Wide coverage of departments.</a:t>
            </a:r>
          </a:p>
          <a:p>
            <a:pPr lvl="1"/>
            <a:r>
              <a:rPr lang="en-US" sz="2000" dirty="0"/>
              <a:t>Ranking-based evaluation of districts.</a:t>
            </a:r>
          </a:p>
          <a:p>
            <a:pPr lvl="1"/>
            <a:r>
              <a:rPr lang="en-US" sz="2000" dirty="0"/>
              <a:t>Provides historical comparisons and trend analysis.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Drawbacks:</a:t>
            </a:r>
            <a:endParaRPr lang="en-US" sz="2000" dirty="0"/>
          </a:p>
          <a:p>
            <a:pPr lvl="1"/>
            <a:r>
              <a:rPr lang="en-US" sz="2000" b="1" dirty="0"/>
              <a:t>Macro-level only</a:t>
            </a:r>
            <a:r>
              <a:rPr lang="en-US" sz="2000" dirty="0"/>
              <a:t> – does not provide </a:t>
            </a:r>
            <a:r>
              <a:rPr lang="en-US" sz="2000" b="1" dirty="0"/>
              <a:t>granular district KPIs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Focused on </a:t>
            </a:r>
            <a:r>
              <a:rPr lang="en-US" sz="2000" b="1" dirty="0"/>
              <a:t>rankings rather than actionable insights</a:t>
            </a:r>
            <a:r>
              <a:rPr lang="en-US" sz="2000" dirty="0"/>
              <a:t>.</a:t>
            </a:r>
          </a:p>
          <a:p>
            <a:pPr lvl="1"/>
            <a:r>
              <a:rPr lang="en-US" sz="2000" b="1" dirty="0"/>
              <a:t>No sector-to-sector correlation</a:t>
            </a:r>
            <a:r>
              <a:rPr lang="en-US" sz="2000" dirty="0"/>
              <a:t> (e.g., how education outcomes influence health).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846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93B6DF-9231-3EB0-D036-7BD751D753F0}"/>
              </a:ext>
            </a:extLst>
          </p:cNvPr>
          <p:cNvSpPr txBox="1"/>
          <p:nvPr/>
        </p:nvSpPr>
        <p:spPr>
          <a:xfrm>
            <a:off x="83574" y="875072"/>
            <a:ext cx="12024851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2. Kalaburagi COVID Dashboard (District-level) :</a:t>
            </a:r>
          </a:p>
          <a:p>
            <a:endParaRPr lang="en-US" sz="3200" dirty="0"/>
          </a:p>
          <a:p>
            <a:r>
              <a:rPr lang="en-US" sz="2000" b="1" dirty="0"/>
              <a:t>Description:</a:t>
            </a:r>
            <a:r>
              <a:rPr lang="en-US" sz="2000" dirty="0"/>
              <a:t> Developed during the pandemic to monitor </a:t>
            </a:r>
            <a:r>
              <a:rPr lang="en-US" sz="2000" b="1" dirty="0"/>
              <a:t>real-time COVID-19 statistics</a:t>
            </a:r>
            <a:r>
              <a:rPr lang="en-US" sz="2000" dirty="0"/>
              <a:t> in Kalaburagi district (Karnataka).</a:t>
            </a:r>
          </a:p>
          <a:p>
            <a:endParaRPr lang="en-US" sz="2000" dirty="0"/>
          </a:p>
          <a:p>
            <a:r>
              <a:rPr lang="en-US" sz="2000" b="1" dirty="0"/>
              <a:t>Strengths:</a:t>
            </a:r>
            <a:endParaRPr lang="en-US" sz="2000" dirty="0"/>
          </a:p>
          <a:p>
            <a:pPr lvl="1"/>
            <a:r>
              <a:rPr lang="en-US" sz="2000" dirty="0"/>
              <a:t>District-focused.</a:t>
            </a:r>
          </a:p>
          <a:p>
            <a:pPr lvl="1"/>
            <a:r>
              <a:rPr lang="en-US" sz="2000" dirty="0"/>
              <a:t>Real-time case counts, recoveries, vaccination tracking.</a:t>
            </a:r>
          </a:p>
          <a:p>
            <a:pPr lvl="1"/>
            <a:r>
              <a:rPr lang="en-US" sz="2000" dirty="0"/>
              <a:t>Public-friendly with open access.</a:t>
            </a:r>
          </a:p>
          <a:p>
            <a:pPr lvl="1"/>
            <a:endParaRPr lang="en-US" sz="2000" dirty="0"/>
          </a:p>
          <a:p>
            <a:r>
              <a:rPr lang="en-US" sz="2000" b="1" dirty="0"/>
              <a:t>Drawbacks:</a:t>
            </a:r>
            <a:endParaRPr lang="en-US" sz="2000" dirty="0"/>
          </a:p>
          <a:p>
            <a:pPr lvl="1"/>
            <a:r>
              <a:rPr lang="en-US" sz="2000" b="1" dirty="0"/>
              <a:t>Single-sector only (Health)</a:t>
            </a:r>
            <a:r>
              <a:rPr lang="en-US" sz="2000" dirty="0"/>
              <a:t> – no integration with other district functions.</a:t>
            </a:r>
          </a:p>
          <a:p>
            <a:pPr lvl="1"/>
            <a:r>
              <a:rPr lang="en-US" sz="2000" dirty="0"/>
              <a:t>Static design, built only for pandemic monitoring.</a:t>
            </a:r>
          </a:p>
          <a:p>
            <a:pPr lvl="1"/>
            <a:r>
              <a:rPr lang="en-US" sz="2000" b="1" dirty="0"/>
              <a:t>No comparative analytics</a:t>
            </a:r>
            <a:r>
              <a:rPr lang="en-US" sz="2000" dirty="0"/>
              <a:t> (time trends beyond health, or multi-sector view).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57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F369CA-733A-B6B8-B7EF-2E9640A47E75}"/>
              </a:ext>
            </a:extLst>
          </p:cNvPr>
          <p:cNvSpPr txBox="1"/>
          <p:nvPr/>
        </p:nvSpPr>
        <p:spPr>
          <a:xfrm>
            <a:off x="103238" y="658762"/>
            <a:ext cx="11985523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Method :</a:t>
            </a:r>
          </a:p>
          <a:p>
            <a:endParaRPr lang="en-US" sz="2400" b="1" dirty="0"/>
          </a:p>
          <a:p>
            <a:endParaRPr lang="en-US" b="1" dirty="0"/>
          </a:p>
          <a:p>
            <a:r>
              <a:rPr lang="en-US" sz="2000" b="1" dirty="0"/>
              <a:t>Data Integration (ETL):</a:t>
            </a:r>
            <a:r>
              <a:rPr lang="en-US" sz="2000" dirty="0"/>
              <a:t> APIs and raw CSV datasets consolidated using </a:t>
            </a:r>
            <a:r>
              <a:rPr lang="en-US" sz="2000" b="1" dirty="0"/>
              <a:t>Python-based automated pipelines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Data Storage:</a:t>
            </a:r>
            <a:r>
              <a:rPr lang="en-US" sz="2000" dirty="0"/>
              <a:t> Optimized structured repository (JSON/CSV) designed for </a:t>
            </a:r>
            <a:r>
              <a:rPr lang="en-US" sz="2000" b="1" dirty="0"/>
              <a:t>zero-latency data retrieval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Processing:</a:t>
            </a:r>
            <a:r>
              <a:rPr lang="en-US" sz="2000" dirty="0"/>
              <a:t> Python (</a:t>
            </a:r>
            <a:r>
              <a:rPr lang="en-US" sz="2000" b="1" dirty="0"/>
              <a:t>Pandas/NumPy</a:t>
            </a:r>
            <a:r>
              <a:rPr lang="en-US" sz="2000" dirty="0"/>
              <a:t>) utilized for robust data cleaning, aggregation, and anomaly detection.</a:t>
            </a:r>
          </a:p>
          <a:p>
            <a:endParaRPr lang="en-US" sz="2000" dirty="0"/>
          </a:p>
          <a:p>
            <a:r>
              <a:rPr lang="en-US" sz="2000" b="1" dirty="0"/>
              <a:t>Visualization:</a:t>
            </a:r>
            <a:r>
              <a:rPr lang="en-US" sz="2000" dirty="0"/>
              <a:t> </a:t>
            </a:r>
            <a:r>
              <a:rPr lang="en-US" sz="2000" b="1" dirty="0"/>
              <a:t>JavaScript (ES6+)</a:t>
            </a:r>
            <a:r>
              <a:rPr lang="en-US" sz="2000" dirty="0"/>
              <a:t> + Chart.js for rendering </a:t>
            </a:r>
            <a:r>
              <a:rPr lang="en-US" sz="2000" b="1" dirty="0"/>
              <a:t>dynamic charts, filters, and sector comparisons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Reporting:</a:t>
            </a:r>
            <a:r>
              <a:rPr lang="en-US" sz="2000" dirty="0"/>
              <a:t> Instant generation of PDF/Excel performance snapshots in </a:t>
            </a:r>
            <a:r>
              <a:rPr lang="en-US" sz="2000" b="1" dirty="0"/>
              <a:t>under 1 minute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Security:</a:t>
            </a:r>
            <a:r>
              <a:rPr lang="en-US" sz="2000" dirty="0"/>
              <a:t> Implementation of </a:t>
            </a:r>
            <a:r>
              <a:rPr lang="en-US" sz="2000" b="1" dirty="0"/>
              <a:t>Role-Based Access Control</a:t>
            </a:r>
            <a:r>
              <a:rPr lang="en-US" sz="2000" dirty="0"/>
              <a:t> (Administrators vs. Public Users).</a:t>
            </a:r>
          </a:p>
          <a:p>
            <a:endParaRPr lang="en-US" sz="2000" dirty="0"/>
          </a:p>
          <a:p>
            <a:r>
              <a:rPr lang="en-US" sz="2000" b="1" dirty="0"/>
              <a:t>Scalability:</a:t>
            </a:r>
            <a:r>
              <a:rPr lang="en-US" sz="2000" dirty="0"/>
              <a:t> Modular architecture allowing seamless expansion to </a:t>
            </a:r>
            <a:r>
              <a:rPr lang="en-US" sz="2000" b="1" dirty="0"/>
              <a:t>state-level aggregation</a:t>
            </a:r>
            <a:r>
              <a:rPr lang="en-US" sz="2000" dirty="0"/>
              <a:t> in the future.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956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4FC82-5798-B2FD-1701-03C58DDA7293}"/>
              </a:ext>
            </a:extLst>
          </p:cNvPr>
          <p:cNvSpPr txBox="1"/>
          <p:nvPr/>
        </p:nvSpPr>
        <p:spPr>
          <a:xfrm>
            <a:off x="997974" y="612844"/>
            <a:ext cx="101960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Feasibility Study :</a:t>
            </a:r>
          </a:p>
          <a:p>
            <a:endParaRPr lang="en-US" b="1" dirty="0"/>
          </a:p>
          <a:p>
            <a:r>
              <a:rPr lang="en-US" sz="2000" b="1" dirty="0"/>
              <a:t>Technical Feasibility:</a:t>
            </a:r>
            <a:r>
              <a:rPr lang="en-US" sz="2000" dirty="0"/>
              <a:t> Stack: JavaScript (ES6+), HTML5, CSS3, Python (Pandas). Standardized web technologies ensuring </a:t>
            </a:r>
            <a:r>
              <a:rPr lang="en-US" sz="2000" b="1" dirty="0"/>
              <a:t>high-performance client-side rendering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Operational Feasibility:</a:t>
            </a:r>
            <a:r>
              <a:rPr lang="en-US" sz="2000" dirty="0"/>
              <a:t> Script-based data pipelines ensure </a:t>
            </a:r>
            <a:r>
              <a:rPr lang="en-US" sz="2000" b="1" dirty="0"/>
              <a:t>automated and error-free data updates</a:t>
            </a:r>
            <a:r>
              <a:rPr lang="en-US" sz="2000" dirty="0"/>
              <a:t>. Intuitive UI requires </a:t>
            </a:r>
            <a:r>
              <a:rPr lang="en-US" sz="2000" b="1" dirty="0"/>
              <a:t>minimal training for district officers</a:t>
            </a:r>
            <a:r>
              <a:rPr lang="en-US" sz="2000" dirty="0"/>
              <a:t> (export-ready).</a:t>
            </a:r>
          </a:p>
          <a:p>
            <a:endParaRPr lang="en-US" sz="2000" dirty="0"/>
          </a:p>
          <a:p>
            <a:r>
              <a:rPr lang="en-US" sz="2000" b="1" dirty="0"/>
              <a:t>Economic Feasibility:</a:t>
            </a:r>
            <a:r>
              <a:rPr lang="en-US" sz="2000" dirty="0"/>
              <a:t> Utilizes open-source tools with </a:t>
            </a:r>
            <a:r>
              <a:rPr lang="en-US" sz="2000" b="1" dirty="0"/>
              <a:t>zero licensing costs</a:t>
            </a:r>
            <a:r>
              <a:rPr lang="en-US" sz="2000" dirty="0"/>
              <a:t>. Lightweight architecture reduces </a:t>
            </a:r>
            <a:r>
              <a:rPr lang="en-US" sz="2000" b="1" dirty="0"/>
              <a:t>server and infrastructure requirements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Resource Feasibility:</a:t>
            </a:r>
            <a:r>
              <a:rPr lang="en-US" sz="2000" dirty="0"/>
              <a:t> 4-member team split into </a:t>
            </a:r>
            <a:r>
              <a:rPr lang="en-US" sz="2000" b="1" dirty="0"/>
              <a:t>data engineering, frontend logic, UI design, and testing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 Clear division of tasks → </a:t>
            </a:r>
            <a:r>
              <a:rPr lang="en-US" sz="2000" b="1" dirty="0"/>
              <a:t>predictable project delivery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Scalability Feasibility:</a:t>
            </a:r>
            <a:r>
              <a:rPr lang="en-US" sz="2000" dirty="0"/>
              <a:t> Modular codebase ready for </a:t>
            </a:r>
            <a:r>
              <a:rPr lang="en-US" sz="2000" b="1" dirty="0"/>
              <a:t>GIS mapping and state-level API integration</a:t>
            </a:r>
            <a:r>
              <a:rPr lang="en-US" sz="20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669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1B88A-22DD-48AB-43FF-BD60593928A5}"/>
              </a:ext>
            </a:extLst>
          </p:cNvPr>
          <p:cNvSpPr txBox="1"/>
          <p:nvPr/>
        </p:nvSpPr>
        <p:spPr>
          <a:xfrm>
            <a:off x="108155" y="363793"/>
            <a:ext cx="657778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Architecture Diagram &amp; Explanation :</a:t>
            </a:r>
          </a:p>
          <a:p>
            <a:endParaRPr lang="en-US" dirty="0"/>
          </a:p>
          <a:p>
            <a:r>
              <a:rPr lang="en-US" sz="2000" b="1" dirty="0"/>
              <a:t>Flow:</a:t>
            </a:r>
            <a:r>
              <a:rPr lang="en-US" sz="2000" dirty="0"/>
              <a:t> Data Sources -&gt; Python ETL -&gt; JSON Repository -&gt; Frontend UI -&gt; End Users.</a:t>
            </a:r>
          </a:p>
          <a:p>
            <a:endParaRPr lang="en-US" sz="2000" dirty="0"/>
          </a:p>
          <a:p>
            <a:r>
              <a:rPr lang="en-US" sz="2000" b="1" dirty="0"/>
              <a:t>ETL Layer:</a:t>
            </a:r>
            <a:r>
              <a:rPr lang="en-US" sz="2000" dirty="0"/>
              <a:t> </a:t>
            </a:r>
            <a:r>
              <a:rPr lang="en-US" sz="2000" b="1" dirty="0"/>
              <a:t>Python scripts (Pandas)</a:t>
            </a:r>
            <a:r>
              <a:rPr lang="en-US" sz="2000" dirty="0"/>
              <a:t> clean, validate, and merge diverse datasets into a unified format.</a:t>
            </a:r>
          </a:p>
          <a:p>
            <a:endParaRPr lang="en-US" sz="2000" dirty="0"/>
          </a:p>
          <a:p>
            <a:r>
              <a:rPr lang="en-US" sz="2000" b="1" dirty="0"/>
              <a:t>Data Storage:</a:t>
            </a:r>
            <a:r>
              <a:rPr lang="en-US" sz="2000" dirty="0"/>
              <a:t> Optimized </a:t>
            </a:r>
            <a:r>
              <a:rPr lang="en-US" sz="2000" b="1" dirty="0"/>
              <a:t>Structured Repository (JSON/CSV)</a:t>
            </a:r>
            <a:r>
              <a:rPr lang="en-US" sz="2000" dirty="0"/>
              <a:t> ensures lightweight and instant data retrieval.</a:t>
            </a:r>
          </a:p>
          <a:p>
            <a:endParaRPr lang="en-US" sz="2000" dirty="0"/>
          </a:p>
          <a:p>
            <a:r>
              <a:rPr lang="en-US" sz="2000" b="1" dirty="0"/>
              <a:t>Analytics:</a:t>
            </a:r>
            <a:r>
              <a:rPr lang="en-US" sz="2000" dirty="0"/>
              <a:t> Pre-processing logic handles </a:t>
            </a:r>
            <a:r>
              <a:rPr lang="en-US" sz="2000" b="1" dirty="0"/>
              <a:t>trend calculation and sector comparisons</a:t>
            </a:r>
            <a:r>
              <a:rPr lang="en-US" sz="2000" dirty="0"/>
              <a:t> during the data cleaning phase.</a:t>
            </a:r>
          </a:p>
          <a:p>
            <a:endParaRPr lang="en-US" sz="2000" dirty="0"/>
          </a:p>
          <a:p>
            <a:r>
              <a:rPr lang="en-US" sz="2000" b="1" dirty="0"/>
              <a:t>Frontend:</a:t>
            </a:r>
            <a:r>
              <a:rPr lang="en-US" sz="2000" dirty="0"/>
              <a:t> </a:t>
            </a:r>
            <a:r>
              <a:rPr lang="en-US" sz="2000" b="1" dirty="0"/>
              <a:t>JavaScript (ES6+)</a:t>
            </a:r>
            <a:r>
              <a:rPr lang="en-US" sz="2000" dirty="0"/>
              <a:t> fetches data asynchronously to render interactive charts and filters without page reloads.</a:t>
            </a:r>
          </a:p>
          <a:p>
            <a:endParaRPr lang="en-US" sz="2000" dirty="0"/>
          </a:p>
          <a:p>
            <a:r>
              <a:rPr lang="en-US" sz="2000" b="1" dirty="0"/>
              <a:t>End Users:</a:t>
            </a:r>
            <a:r>
              <a:rPr lang="en-US" sz="2000" dirty="0"/>
              <a:t> Role-based views for </a:t>
            </a:r>
            <a:r>
              <a:rPr lang="en-US" sz="2000" b="1" dirty="0"/>
              <a:t>Officers, Department Heads, and Citizens</a:t>
            </a:r>
            <a:r>
              <a:rPr lang="en-US" sz="20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12AA9-4377-BF44-261F-D8B2B45BA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592" y="909484"/>
            <a:ext cx="2778691" cy="57027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6AFCF9-D790-EB67-F3E9-38611D49D9FA}"/>
              </a:ext>
            </a:extLst>
          </p:cNvPr>
          <p:cNvSpPr txBox="1"/>
          <p:nvPr/>
        </p:nvSpPr>
        <p:spPr>
          <a:xfrm>
            <a:off x="7669161" y="363793"/>
            <a:ext cx="4306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Integrated ETL &amp; Dashboard Workflow</a:t>
            </a:r>
          </a:p>
        </p:txBody>
      </p:sp>
    </p:spTree>
    <p:extLst>
      <p:ext uri="{BB962C8B-B14F-4D97-AF65-F5344CB8AC3E}">
        <p14:creationId xmlns:p14="http://schemas.microsoft.com/office/powerpoint/2010/main" val="3682419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30D085-6BE2-19B2-9778-840E188CF983}"/>
              </a:ext>
            </a:extLst>
          </p:cNvPr>
          <p:cNvSpPr txBox="1"/>
          <p:nvPr/>
        </p:nvSpPr>
        <p:spPr>
          <a:xfrm>
            <a:off x="953729" y="874454"/>
            <a:ext cx="8829368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Modules :</a:t>
            </a:r>
          </a:p>
          <a:p>
            <a:endParaRPr lang="en-US" sz="2400" dirty="0"/>
          </a:p>
          <a:p>
            <a:r>
              <a:rPr lang="en-US" sz="2000" b="1" dirty="0"/>
              <a:t>Data Collection</a:t>
            </a:r>
            <a:r>
              <a:rPr lang="en-US" sz="2000" dirty="0"/>
              <a:t> – Aggregating datasets from government portals (APIs &amp; CSVs).</a:t>
            </a:r>
          </a:p>
          <a:p>
            <a:endParaRPr lang="en-US" sz="2000" dirty="0"/>
          </a:p>
          <a:p>
            <a:r>
              <a:rPr lang="en-US" sz="2000" b="1" dirty="0"/>
              <a:t>Data Cleaning</a:t>
            </a:r>
            <a:r>
              <a:rPr lang="en-US" sz="2000" dirty="0"/>
              <a:t> – </a:t>
            </a:r>
            <a:r>
              <a:rPr lang="en-US" sz="2000" b="1" dirty="0"/>
              <a:t>Python scripts (Pandas)</a:t>
            </a:r>
            <a:r>
              <a:rPr lang="en-US" sz="2000" dirty="0"/>
              <a:t> to handle missing values and errors.</a:t>
            </a:r>
          </a:p>
          <a:p>
            <a:endParaRPr lang="en-US" sz="2000" dirty="0"/>
          </a:p>
          <a:p>
            <a:r>
              <a:rPr lang="en-US" sz="2000" b="1" dirty="0"/>
              <a:t>Data Processing</a:t>
            </a:r>
            <a:r>
              <a:rPr lang="en-US" sz="2000" dirty="0"/>
              <a:t> – Statistical analysis and trend calculation for sector KPIs.</a:t>
            </a:r>
          </a:p>
          <a:p>
            <a:endParaRPr lang="en-US" sz="2000" dirty="0"/>
          </a:p>
          <a:p>
            <a:r>
              <a:rPr lang="en-US" sz="2000" b="1" dirty="0"/>
              <a:t>Data Storage</a:t>
            </a:r>
            <a:r>
              <a:rPr lang="en-US" sz="2000" dirty="0"/>
              <a:t> – </a:t>
            </a:r>
            <a:r>
              <a:rPr lang="en-US" sz="2000" b="1" dirty="0"/>
              <a:t>Structured Repository (JSON/CSV)</a:t>
            </a:r>
            <a:r>
              <a:rPr lang="en-US" sz="2000" dirty="0"/>
              <a:t> for zero-latency access.</a:t>
            </a:r>
          </a:p>
          <a:p>
            <a:endParaRPr lang="en-US" sz="2000" dirty="0"/>
          </a:p>
          <a:p>
            <a:r>
              <a:rPr lang="en-US" sz="2000" b="1" dirty="0"/>
              <a:t>Visualization Module</a:t>
            </a:r>
            <a:r>
              <a:rPr lang="en-US" sz="2000" dirty="0"/>
              <a:t> – </a:t>
            </a:r>
            <a:r>
              <a:rPr lang="en-US" sz="2000" b="1" dirty="0"/>
              <a:t>Web Interface (JS ES6+)</a:t>
            </a:r>
            <a:r>
              <a:rPr lang="en-US" sz="2000" dirty="0"/>
              <a:t> with dynamic charts and filters.</a:t>
            </a:r>
          </a:p>
          <a:p>
            <a:endParaRPr lang="en-US" sz="2000" dirty="0"/>
          </a:p>
          <a:p>
            <a:r>
              <a:rPr lang="en-US" sz="2000" b="1" dirty="0"/>
              <a:t>Reporting Module</a:t>
            </a:r>
            <a:r>
              <a:rPr lang="en-US" sz="2000" dirty="0"/>
              <a:t> – On-demand generation of </a:t>
            </a:r>
            <a:r>
              <a:rPr lang="en-US" sz="2000" b="1" dirty="0"/>
              <a:t>PDF/Excel snapshots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Monitoring &amp; Security</a:t>
            </a:r>
            <a:r>
              <a:rPr lang="en-US" sz="2000" dirty="0"/>
              <a:t> – </a:t>
            </a:r>
            <a:r>
              <a:rPr lang="en-US" sz="2000" b="1" dirty="0"/>
              <a:t>Role-Based Access Control</a:t>
            </a:r>
            <a:r>
              <a:rPr lang="en-US" sz="2000" dirty="0"/>
              <a:t> for admins and public users.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776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3A9A7A-8E3E-8E17-4C13-7B41DA1FD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803835"/>
              </p:ext>
            </p:extLst>
          </p:nvPr>
        </p:nvGraphicFramePr>
        <p:xfrm>
          <a:off x="226143" y="894735"/>
          <a:ext cx="11513576" cy="5658884"/>
        </p:xfrm>
        <a:graphic>
          <a:graphicData uri="http://schemas.openxmlformats.org/drawingml/2006/table">
            <a:tbl>
              <a:tblPr/>
              <a:tblGrid>
                <a:gridCol w="1285676">
                  <a:extLst>
                    <a:ext uri="{9D8B030D-6E8A-4147-A177-3AD203B41FA5}">
                      <a16:colId xmlns:a16="http://schemas.microsoft.com/office/drawing/2014/main" val="3143040621"/>
                    </a:ext>
                  </a:extLst>
                </a:gridCol>
                <a:gridCol w="2556975">
                  <a:extLst>
                    <a:ext uri="{9D8B030D-6E8A-4147-A177-3AD203B41FA5}">
                      <a16:colId xmlns:a16="http://schemas.microsoft.com/office/drawing/2014/main" val="3893870545"/>
                    </a:ext>
                  </a:extLst>
                </a:gridCol>
                <a:gridCol w="2556975">
                  <a:extLst>
                    <a:ext uri="{9D8B030D-6E8A-4147-A177-3AD203B41FA5}">
                      <a16:colId xmlns:a16="http://schemas.microsoft.com/office/drawing/2014/main" val="3790688941"/>
                    </a:ext>
                  </a:extLst>
                </a:gridCol>
                <a:gridCol w="2556975">
                  <a:extLst>
                    <a:ext uri="{9D8B030D-6E8A-4147-A177-3AD203B41FA5}">
                      <a16:colId xmlns:a16="http://schemas.microsoft.com/office/drawing/2014/main" val="3835804869"/>
                    </a:ext>
                  </a:extLst>
                </a:gridCol>
                <a:gridCol w="2556975">
                  <a:extLst>
                    <a:ext uri="{9D8B030D-6E8A-4147-A177-3AD203B41FA5}">
                      <a16:colId xmlns:a16="http://schemas.microsoft.com/office/drawing/2014/main" val="2025142014"/>
                    </a:ext>
                  </a:extLst>
                </a:gridCol>
              </a:tblGrid>
              <a:tr h="62926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Layer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Technology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Purpose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Why Chosen</a:t>
                      </a:r>
                      <a:endParaRPr lang="en-US" sz="200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Role in Project</a:t>
                      </a:r>
                      <a:endParaRPr lang="en-US" sz="2000" dirty="0">
                        <a:solidFill>
                          <a:srgbClr val="1F1F1F"/>
                        </a:solidFill>
                        <a:effectLst/>
                        <a:latin typeface="+mn-lt"/>
                      </a:endParaRP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590739"/>
                  </a:ext>
                </a:extLst>
              </a:tr>
              <a:tr h="51577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Frontend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HTML5, CSS3, JS (ES6+)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Interactive UI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Lightweight, Universal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Responsive Dashboard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644339"/>
                  </a:ext>
                </a:extLst>
              </a:tr>
              <a:tr h="902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Charts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Chart.js / Native JS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KPI Visualization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Fast Rendering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Dynamic Graphs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08537"/>
                  </a:ext>
                </a:extLst>
              </a:tr>
              <a:tr h="902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Backend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Python (ETL Scripts)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Data Processing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High Accuracy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Cleaning Pipelines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94295"/>
                  </a:ext>
                </a:extLst>
              </a:tr>
              <a:tr h="902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Database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JSON / CSV Repository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Structured Storage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Zero-Latency Access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Data Persistence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478982"/>
                  </a:ext>
                </a:extLst>
              </a:tr>
              <a:tr h="902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Analytics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Pandas / NumPy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Statistical Analysis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Handles Complex Data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Trend Calculation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036704"/>
                  </a:ext>
                </a:extLst>
              </a:tr>
              <a:tr h="9027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Scheduler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Task Scheduler / Script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Automated Refresh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Simple &amp; Reliable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0" dirty="0">
                          <a:solidFill>
                            <a:srgbClr val="1F1F1F"/>
                          </a:solidFill>
                          <a:effectLst/>
                          <a:latin typeface="+mn-lt"/>
                        </a:rPr>
                        <a:t>Periodic Updates</a:t>
                      </a:r>
                    </a:p>
                  </a:txBody>
                  <a:tcPr marT="60960" marB="60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2169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B1E683D-AC96-BC6F-8A63-266702A9892F}"/>
              </a:ext>
            </a:extLst>
          </p:cNvPr>
          <p:cNvSpPr txBox="1"/>
          <p:nvPr/>
        </p:nvSpPr>
        <p:spPr>
          <a:xfrm>
            <a:off x="117988" y="157316"/>
            <a:ext cx="6469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Technology Stack(Hardware and Software Details) :</a:t>
            </a:r>
          </a:p>
        </p:txBody>
      </p:sp>
    </p:spTree>
    <p:extLst>
      <p:ext uri="{BB962C8B-B14F-4D97-AF65-F5344CB8AC3E}">
        <p14:creationId xmlns:p14="http://schemas.microsoft.com/office/powerpoint/2010/main" val="588679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A5A65C4-87E3-A7BC-0A2A-BE1F69C1C893}"/>
              </a:ext>
            </a:extLst>
          </p:cNvPr>
          <p:cNvSpPr txBox="1"/>
          <p:nvPr/>
        </p:nvSpPr>
        <p:spPr>
          <a:xfrm>
            <a:off x="1396181" y="2035279"/>
            <a:ext cx="89276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August 2025: Requirement gathering and design.</a:t>
            </a:r>
          </a:p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September 2025: </a:t>
            </a:r>
            <a:r>
              <a:rPr lang="en-US" sz="2400"/>
              <a:t>Literature Survey, Methods &amp; Proposed Architecture</a:t>
            </a:r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2025: Frontend development and visualization.</a:t>
            </a:r>
          </a:p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November 2025: Testing and deployment.</a:t>
            </a:r>
          </a:p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December 2025: Final documentation and review.</a:t>
            </a:r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146665-CC2F-A7CC-3107-721BD3A6EEE6}"/>
              </a:ext>
            </a:extLst>
          </p:cNvPr>
          <p:cNvSpPr txBox="1"/>
          <p:nvPr/>
        </p:nvSpPr>
        <p:spPr>
          <a:xfrm>
            <a:off x="1170038" y="373625"/>
            <a:ext cx="100682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lang="en-US" sz="4400"/>
          </a:p>
        </p:txBody>
      </p:sp>
    </p:spTree>
    <p:extLst>
      <p:ext uri="{BB962C8B-B14F-4D97-AF65-F5344CB8AC3E}">
        <p14:creationId xmlns:p14="http://schemas.microsoft.com/office/powerpoint/2010/main" val="4051244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0A616-C30B-FB60-E1C5-3B03E01D919B}"/>
              </a:ext>
            </a:extLst>
          </p:cNvPr>
          <p:cNvSpPr txBox="1"/>
          <p:nvPr/>
        </p:nvSpPr>
        <p:spPr>
          <a:xfrm>
            <a:off x="108155" y="98323"/>
            <a:ext cx="1194619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Academic References (IEEE/Scopus/Web of Science) :</a:t>
            </a:r>
          </a:p>
          <a:p>
            <a:endParaRPr lang="en-US" b="1" dirty="0"/>
          </a:p>
          <a:p>
            <a:r>
              <a:rPr lang="en-US" dirty="0"/>
              <a:t>[1] A. P. Dameri, “Towards a Governance Dashboard for Smart Cities Initiatives: A System of Systems Approach,” </a:t>
            </a:r>
            <a:r>
              <a:rPr lang="en-US" i="1" dirty="0"/>
              <a:t>IEEE Systems of Systems Engineering (SoSE)</a:t>
            </a:r>
            <a:r>
              <a:rPr lang="en-US" dirty="0"/>
              <a:t>, 2020.</a:t>
            </a:r>
          </a:p>
          <a:p>
            <a:endParaRPr lang="en-US" dirty="0"/>
          </a:p>
          <a:p>
            <a:r>
              <a:rPr lang="en-US" dirty="0"/>
              <a:t>[2] J. D. Velázquez et al., “Cities-board: A Framework to Automate the Development of Smart Cities Dashboards,” </a:t>
            </a:r>
            <a:r>
              <a:rPr lang="en-US" i="1" dirty="0"/>
              <a:t>IEEE Internet of Things Journal</a:t>
            </a:r>
            <a:r>
              <a:rPr lang="en-US" dirty="0"/>
              <a:t>, vol. 7, no. 9, pp. 8793–8805, 2020.</a:t>
            </a:r>
          </a:p>
          <a:p>
            <a:endParaRPr lang="en-US" dirty="0"/>
          </a:p>
          <a:p>
            <a:r>
              <a:rPr lang="en-US" dirty="0"/>
              <a:t>[3] C. Few and S. Edge, “What Do We Talk About When We Talk About Dashboards?,” 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25, no. 1, pp. 479–489, Jan. 2019.</a:t>
            </a:r>
          </a:p>
          <a:p>
            <a:endParaRPr lang="en-US" dirty="0"/>
          </a:p>
          <a:p>
            <a:r>
              <a:rPr lang="en-US" dirty="0"/>
              <a:t>[4] H. L. Truong et al., “Real-Time Data Visualization Frameworks for Smart City Applications,” </a:t>
            </a:r>
            <a:r>
              <a:rPr lang="en-US" i="1" dirty="0"/>
              <a:t>Elsevier Future Generation Computer Systems</a:t>
            </a:r>
            <a:r>
              <a:rPr lang="en-US" dirty="0"/>
              <a:t>, vol. 125, pp. 432–446, 2022.</a:t>
            </a:r>
          </a:p>
          <a:p>
            <a:endParaRPr lang="en-US" dirty="0"/>
          </a:p>
          <a:p>
            <a:r>
              <a:rPr lang="en-US" dirty="0"/>
              <a:t>[5] P. K. Paul et al., “Exploring Open Data Journey of Indian Smart Cities,” </a:t>
            </a:r>
            <a:r>
              <a:rPr lang="en-US" i="1" dirty="0"/>
              <a:t>IEEE Smart Cities Newsletter</a:t>
            </a:r>
            <a:r>
              <a:rPr lang="en-US" dirty="0"/>
              <a:t>, 2021.</a:t>
            </a:r>
          </a:p>
          <a:p>
            <a:endParaRPr lang="en-US" dirty="0"/>
          </a:p>
          <a:p>
            <a:r>
              <a:rPr lang="en-US" dirty="0"/>
              <a:t>[6] A. R. Pradana et al., “Design of KPI Dashboard for Indonesian Higher Education,” in </a:t>
            </a:r>
            <a:r>
              <a:rPr lang="en-US" i="1" dirty="0"/>
              <a:t>Proc. IEEE Int. Conf. on Computing, Communication and Informatics (ICCIC)</a:t>
            </a:r>
            <a:r>
              <a:rPr lang="en-US" dirty="0"/>
              <a:t>, 2017, pp. 1–6.</a:t>
            </a:r>
          </a:p>
          <a:p>
            <a:endParaRPr lang="en-US" dirty="0"/>
          </a:p>
          <a:p>
            <a:r>
              <a:rPr lang="en-US" dirty="0"/>
              <a:t>[7] D. Misra and S. Sarkar, “A Hybrid and Distributed Architecture for an Interoperable E-Government Portal,” in </a:t>
            </a:r>
            <a:r>
              <a:rPr lang="en-US" i="1" dirty="0"/>
              <a:t>Proc. IEEE WICT</a:t>
            </a:r>
            <a:r>
              <a:rPr lang="en-US" dirty="0"/>
              <a:t>, 2013, pp. 58–63.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690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F887DD-887A-5721-F23D-C4F546C77487}"/>
              </a:ext>
            </a:extLst>
          </p:cNvPr>
          <p:cNvSpPr txBox="1"/>
          <p:nvPr/>
        </p:nvSpPr>
        <p:spPr>
          <a:xfrm>
            <a:off x="108155" y="137652"/>
            <a:ext cx="1197569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[8] C. K. Hsu, “Governance to Service—Smart City Evaluations in Taiwan,” </a:t>
            </a:r>
            <a:r>
              <a:rPr lang="en-US" i="1"/>
              <a:t>Int. J. of Computer Science Studies (IJCSS)</a:t>
            </a:r>
            <a:r>
              <a:rPr lang="en-US"/>
              <a:t>, vol. 3, no. 4, pp. 56–64, 2011.</a:t>
            </a:r>
          </a:p>
          <a:p>
            <a:endParaRPr lang="en-US"/>
          </a:p>
          <a:p>
            <a:r>
              <a:rPr lang="en-US"/>
              <a:t>[9] R. Mora et al., “Geospatial Dashboards for Monitoring Smart City Performance,” </a:t>
            </a:r>
            <a:r>
              <a:rPr lang="en-US" i="1"/>
              <a:t>IEEE/MDPI Sensors</a:t>
            </a:r>
            <a:r>
              <a:rPr lang="en-US"/>
              <a:t>, vol. 19, no. 23, p. 5185, Dec. 2019.</a:t>
            </a:r>
          </a:p>
          <a:p>
            <a:endParaRPr lang="en-US"/>
          </a:p>
          <a:p>
            <a:r>
              <a:rPr lang="en-US"/>
              <a:t>[10] S. Ray et al., “Interactive Dashboard for COVID-19 Monitoring in India,” </a:t>
            </a:r>
            <a:r>
              <a:rPr lang="en-US" i="1"/>
              <a:t>IEEE Access</a:t>
            </a:r>
            <a:r>
              <a:rPr lang="en-US"/>
              <a:t>, vol. 9, pp. 125478–125490, 2021.</a:t>
            </a:r>
          </a:p>
          <a:p>
            <a:endParaRPr lang="en-US"/>
          </a:p>
          <a:p>
            <a:r>
              <a:rPr lang="en-US"/>
              <a:t>[11] National Health Mission (NHM) – HMIS Portal, Govt. of India. [Online]. Available: </a:t>
            </a:r>
            <a:r>
              <a:rPr lang="en-US">
                <a:hlinkClick r:id="rId2"/>
              </a:rPr>
              <a:t>https://hmis.nhp.gov.in</a:t>
            </a:r>
            <a:endParaRPr lang="en-US"/>
          </a:p>
          <a:p>
            <a:endParaRPr lang="en-US"/>
          </a:p>
          <a:p>
            <a:r>
              <a:rPr lang="en-US"/>
              <a:t>[12] Unified District Information System for Education (UDISE+) – Govt. of India. [Online]. Available: </a:t>
            </a:r>
            <a:r>
              <a:rPr lang="en-US">
                <a:hlinkClick r:id="rId3"/>
              </a:rPr>
              <a:t>https://udiseplus.gov.in</a:t>
            </a:r>
            <a:endParaRPr lang="en-US"/>
          </a:p>
          <a:p>
            <a:endParaRPr lang="en-US"/>
          </a:p>
          <a:p>
            <a:r>
              <a:rPr lang="en-US"/>
              <a:t>[13] Open Government Data (OGD) Platform India – Govt. of India. [Online]. Available: </a:t>
            </a:r>
            <a:r>
              <a:rPr lang="en-US">
                <a:hlinkClick r:id="rId4"/>
              </a:rPr>
              <a:t>https://data.gov.in</a:t>
            </a:r>
            <a:endParaRPr lang="en-US"/>
          </a:p>
          <a:p>
            <a:endParaRPr lang="en-US"/>
          </a:p>
          <a:p>
            <a:r>
              <a:rPr lang="en-US"/>
              <a:t>[14] National Crime Records Bureau (NCRB) – Govt. of India. [Online]. Available: </a:t>
            </a:r>
            <a:r>
              <a:rPr lang="en-US">
                <a:hlinkClick r:id="rId5"/>
              </a:rPr>
              <a:t>https://ncrb.gov.in</a:t>
            </a:r>
            <a:endParaRPr lang="en-US"/>
          </a:p>
          <a:p>
            <a:endParaRPr lang="en-US"/>
          </a:p>
          <a:p>
            <a:r>
              <a:rPr lang="en-US"/>
              <a:t>[15] Census of India – Office of the Registrar General &amp; Census Commissioner. [Online]. Available: </a:t>
            </a:r>
            <a:r>
              <a:rPr lang="en-US">
                <a:hlinkClick r:id="rId6"/>
              </a:rPr>
              <a:t>https://censusindia.gov.in</a:t>
            </a:r>
            <a:endParaRPr lang="en-US"/>
          </a:p>
          <a:p>
            <a:endParaRPr lang="en-US"/>
          </a:p>
          <a:p>
            <a:r>
              <a:rPr lang="en-US"/>
              <a:t>[16] The World Bank – World Development Indicators. [Online]. Available: </a:t>
            </a:r>
            <a:r>
              <a:rPr lang="en-US">
                <a:hlinkClick r:id="rId7"/>
              </a:rPr>
              <a:t>https://data.worldbank.org</a:t>
            </a:r>
            <a:endParaRPr lang="en-US"/>
          </a:p>
          <a:p>
            <a:endParaRPr lang="en-US"/>
          </a:p>
          <a:p>
            <a:r>
              <a:rPr lang="en-US"/>
              <a:t>[17] NITI Aayog – Aspirational Districts Dashboard. [Online]. Available: </a:t>
            </a:r>
            <a:r>
              <a:rPr lang="en-US">
                <a:hlinkClick r:id="rId8"/>
              </a:rPr>
              <a:t>https://dashboard.niti.gov.in</a:t>
            </a:r>
            <a:endParaRPr lang="en-US"/>
          </a:p>
          <a:p>
            <a:endParaRPr lang="en-US"/>
          </a:p>
          <a:p>
            <a:r>
              <a:rPr lang="en-US"/>
              <a:t>[18] S. Kumar et al., “Smart City Performance Indicators,” in </a:t>
            </a:r>
            <a:r>
              <a:rPr lang="en-US" i="1"/>
              <a:t>Proc. IEEE Int. Smart Cities Conf. (ISC2)</a:t>
            </a:r>
            <a:r>
              <a:rPr lang="en-US"/>
              <a:t>, 2019, pp. 293–298.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3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hlinkClick r:id="rId3"/>
              </a:rPr>
              <a:t>https://github.com/CapstoneCSE137/District-Integrated-Dashboard.git</a:t>
            </a: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/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2117</Words>
  <Application>Microsoft Office PowerPoint</Application>
  <PresentationFormat>Widescreen</PresentationFormat>
  <Paragraphs>336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</vt:lpstr>
      <vt:lpstr>Verdana</vt:lpstr>
      <vt:lpstr>Wingdings</vt:lpstr>
      <vt:lpstr>Office Theme</vt:lpstr>
      <vt:lpstr>PSCS_647_District Integrated Dashboard</vt:lpstr>
      <vt:lpstr>Problem Statement Number: PSCS_647 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Jaswanth Reddy</dc:creator>
  <cp:lastModifiedBy>Jaswanth Reddy</cp:lastModifiedBy>
  <cp:revision>9</cp:revision>
  <dcterms:created xsi:type="dcterms:W3CDTF">2025-08-11T14:33:12Z</dcterms:created>
  <dcterms:modified xsi:type="dcterms:W3CDTF">2025-12-03T16:06:23Z</dcterms:modified>
</cp:coreProperties>
</file>